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platform as decision support for severe-weather operations. It unifies fragmented data, applies the right model to each problem, explains every recommendation, and keeps a named person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requested is approval of a 6-month pre-event MVP mobilisation. The three cards are the low-commitment enablers we need to start: data access and a steward, a short ops session, and an executive sponsor.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ost_fix_cockpit_debby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737360"/>
            <a:ext cx="5623560" cy="316382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053328" y="497433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· Hurricane Debby scenario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Multi-Hazard Readiness &amp; Response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40080" y="33101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decision support for severe-weather operations.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6B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Copilot, never autopilot.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SGW senior leadership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whynow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pressures have made operational resilience a board-level issue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2331720"/>
            <a:ext cx="658368" cy="65836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8" name="Image 1" descr="assets/icon_clou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3" y="2509479"/>
            <a:ext cx="302849" cy="302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32095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event frequency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77824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Hurricanes, floods, heatwaves and wildfires at rising frequency: 27 billion-dollar US disasters in 2024 — $182.7B in damages (NOAA).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15968" y="196596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6864" y="2331720"/>
            <a:ext cx="658368" cy="658368"/>
          </a:xfrm>
          <a:prstGeom prst="ellipse">
            <a:avLst/>
          </a:prstGeom>
          <a:solidFill>
            <a:srgbClr val="E0971A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3" name="Image 2" descr="assets/icon_ey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623" y="2509479"/>
            <a:ext cx="302849" cy="3028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6864" y="32095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Scrutiny, not assurances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626864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and utility commissions now expect resilience they can see evidenced, not simply promised.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65008" y="1965960"/>
            <a:ext cx="3456432" cy="3794760"/>
          </a:xfrm>
          <a:prstGeom prst="roundRect">
            <a:avLst>
              <a:gd name="adj" fmla="val 238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2331720"/>
            <a:ext cx="658368" cy="658368"/>
          </a:xfrm>
          <a:prstGeom prst="ellipse">
            <a:avLst/>
          </a:prstGeom>
          <a:solidFill>
            <a:srgbClr val="D14646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8" name="Image 3" descr="assets/icon_dollar2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663" y="2509479"/>
            <a:ext cx="302849" cy="3028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320954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largest controllable spend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375904" y="3886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outages, storm overtime and reactive maintenance are the biggest controllable costs.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proble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an event, the operational picture lives in the operator's memory, not in a system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2240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0E8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systems, no shared key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306324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maintenance, weather and field data sit in separate tools with different identifiers. The operator stitches them together by hand, one screen at a time.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7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manual, and easy to get wrong under pressure.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20840" y="1828800"/>
            <a:ext cx="4892040" cy="397764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95160" y="201168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FOUR TRUTHS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95160" y="2395728"/>
            <a:ext cx="21259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23176" y="2487168"/>
            <a:ext cx="18699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systems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23176" y="2779776"/>
            <a:ext cx="18699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asset ID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258300" y="2395728"/>
            <a:ext cx="21259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86316" y="2487168"/>
            <a:ext cx="18699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platforms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86316" y="2779776"/>
            <a:ext cx="18699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work-order ID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95160" y="3236976"/>
            <a:ext cx="21259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23176" y="3328416"/>
            <a:ext cx="18699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feeds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23176" y="3621024"/>
            <a:ext cx="18699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geospatial, no asset ID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258300" y="3236976"/>
            <a:ext cx="21259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86316" y="3328416"/>
            <a:ext cx="18699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 tools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86316" y="3621024"/>
            <a:ext cx="18699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/ roster ID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20556" y="4114800"/>
            <a:ext cx="292608" cy="384048"/>
          </a:xfrm>
          <a:prstGeom prst="downArrow">
            <a:avLst/>
          </a:prstGeom>
          <a:solidFill>
            <a:srgbClr val="8A94A6"/>
          </a:solidFill>
          <a:ln/>
        </p:spPr>
      </p:sp>
      <p:sp>
        <p:nvSpPr>
          <p:cNvPr id="24" name="Shape 21"/>
          <p:cNvSpPr/>
          <p:nvPr/>
        </p:nvSpPr>
        <p:spPr>
          <a:xfrm>
            <a:off x="7223760" y="4590288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0E1A2E"/>
          </a:solidFill>
          <a:ln/>
        </p:spPr>
      </p:sp>
      <p:sp>
        <p:nvSpPr>
          <p:cNvPr id="25" name="Text 22"/>
          <p:cNvSpPr/>
          <p:nvPr/>
        </p:nvSpPr>
        <p:spPr>
          <a:xfrm>
            <a:off x="7360920" y="471830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only in the operator's head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60920" y="508406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exactly the moment minutes matter most.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propo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that unifies, predicts, explains and keeps your people in command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21031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45336" y="2395728"/>
            <a:ext cx="658368" cy="65836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8" name="Image 1" descr="assets/icon_unif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95" y="2573487"/>
            <a:ext cx="302849" cy="302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16382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04672" y="3547872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 become one operational picture.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2615184"/>
            <a:ext cx="182880" cy="219456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2" name="Shape 8"/>
          <p:cNvSpPr/>
          <p:nvPr/>
        </p:nvSpPr>
        <p:spPr>
          <a:xfrm>
            <a:off x="3401568" y="21031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79976" y="2395728"/>
            <a:ext cx="658368" cy="658368"/>
          </a:xfrm>
          <a:prstGeom prst="ellipse">
            <a:avLst/>
          </a:prstGeom>
          <a:solidFill>
            <a:srgbClr val="0E8F8B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4" name="Image 2" descr="assets/icon_predic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35" y="2573487"/>
            <a:ext cx="302849" cy="302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01568" y="316382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639312" y="3547872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model per problem: risk, forecast, anomalies, crews.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2615184"/>
            <a:ext cx="182880" cy="219456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8" name="Shape 13"/>
          <p:cNvSpPr/>
          <p:nvPr/>
        </p:nvSpPr>
        <p:spPr>
          <a:xfrm>
            <a:off x="6236208" y="21031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4616" y="2395728"/>
            <a:ext cx="658368" cy="658368"/>
          </a:xfrm>
          <a:prstGeom prst="ellipse">
            <a:avLst/>
          </a:prstGeom>
          <a:solidFill>
            <a:srgbClr val="E0971A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20" name="Image 3" descr="assets/icon_expla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375" y="2573487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316382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73952" y="3547872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recommendations with evidence and confidence.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869680" y="2615184"/>
            <a:ext cx="182880" cy="219456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24" name="Shape 18"/>
          <p:cNvSpPr/>
          <p:nvPr/>
        </p:nvSpPr>
        <p:spPr>
          <a:xfrm>
            <a:off x="9070848" y="21031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49256" y="2395728"/>
            <a:ext cx="658368" cy="658368"/>
          </a:xfrm>
          <a:prstGeom prst="ellipse">
            <a:avLst/>
          </a:prstGeom>
          <a:solidFill>
            <a:srgbClr val="0E1A2E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26" name="Image 4" descr="assets/icon_decid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015" y="2573487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70848" y="316382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308592" y="3547872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person accepts, overrides or defers. Every choice logged.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66928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E1A2E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96112" y="52760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1" name="Image 5" descr="assets/icon_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183" y="5429159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64208" y="5184648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never autopilot.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never acts on its own. Every recommendation is advisory, and a named person stays in command.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change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 THE GROUND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landfall, your teams act instead of assembling data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3310128" y="19293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10328" y="19293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66928" y="2276856"/>
            <a:ext cx="6400800" cy="749808"/>
          </a:xfrm>
          <a:prstGeom prst="roundRect">
            <a:avLst>
              <a:gd name="adj" fmla="val 6098"/>
            </a:avLst>
          </a:prstGeom>
          <a:solidFill>
            <a:srgbClr val="F3F6F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276856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picture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10128" y="2276856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10328" y="2276856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fast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3026664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Preventative work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10128" y="3026664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910328" y="3026664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warning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776472"/>
            <a:ext cx="6400800" cy="749808"/>
          </a:xfrm>
          <a:prstGeom prst="roundRect">
            <a:avLst>
              <a:gd name="adj" fmla="val 6098"/>
            </a:avLst>
          </a:prstGeom>
          <a:solidFill>
            <a:srgbClr val="F3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77647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pre-positioning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10128" y="3776472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910328" y="3776472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1520" y="45262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briefings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10128" y="452628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910328" y="4526280"/>
            <a:ext cx="2057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54589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served:  NOC controller · Field supervisor · Maintenance planner · Ops director</a:t>
            </a:r>
            <a:endParaRPr lang="en-US" sz="1100" dirty="0"/>
          </a:p>
        </p:txBody>
      </p:sp>
      <p:pic>
        <p:nvPicPr>
          <p:cNvPr id="23" name="Image 1" descr="assets/explain_water_forecas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965960"/>
            <a:ext cx="4370832" cy="245973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pic>
      <p:sp>
        <p:nvSpPr>
          <p:cNvPr id="24" name="Text 20"/>
          <p:cNvSpPr/>
          <p:nvPr/>
        </p:nvSpPr>
        <p:spPr>
          <a:xfrm>
            <a:off x="7269480" y="4480560"/>
            <a:ext cx="4370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view: plain-language explanation with cited evidence.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proof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prototype, demonstrated end to end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157276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91056" y="1792224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8" name="Image 1" descr="assets/icon_refres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127" y="1945295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243230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replay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401568" y="157276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25696" y="1792224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2" name="Image 2" descr="assets/icon_clou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767" y="194529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38728" y="243230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hazard alerts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36208" y="157276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260336" y="1792224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6" name="Image 3" descr="assets/icon_decid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407" y="1945295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3368" y="243230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070848" y="1572768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094976" y="1792224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20" name="Image 4" descr="assets/icon_ey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047" y="1945295"/>
            <a:ext cx="260787" cy="26078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08008" y="2432304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model evidence</a:t>
            </a:r>
            <a:endParaRPr lang="en-US" sz="1350" dirty="0"/>
          </a:p>
        </p:txBody>
      </p:sp>
      <p:pic>
        <p:nvPicPr>
          <p:cNvPr id="22" name="Image 5" descr="assets/post_fix_cockpit_live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246120"/>
            <a:ext cx="3566160" cy="200253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pic>
      <p:sp>
        <p:nvSpPr>
          <p:cNvPr id="23" name="Text 15"/>
          <p:cNvSpPr/>
          <p:nvPr/>
        </p:nvSpPr>
        <p:spPr>
          <a:xfrm>
            <a:off x="566928" y="5303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cockpit</a:t>
            </a:r>
            <a:endParaRPr lang="en-US" sz="1050" dirty="0"/>
          </a:p>
        </p:txBody>
      </p:sp>
      <p:pic>
        <p:nvPicPr>
          <p:cNvPr id="24" name="Image 6" descr="assets/scenarios_impacts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246120"/>
            <a:ext cx="3566160" cy="200253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pic>
      <p:sp>
        <p:nvSpPr>
          <p:cNvPr id="25" name="Text 16"/>
          <p:cNvSpPr/>
          <p:nvPr/>
        </p:nvSpPr>
        <p:spPr>
          <a:xfrm>
            <a:off x="4389120" y="5303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Cascading-impact analysis</a:t>
            </a:r>
            <a:endParaRPr lang="en-US" sz="1050" dirty="0"/>
          </a:p>
        </p:txBody>
      </p:sp>
      <p:pic>
        <p:nvPicPr>
          <p:cNvPr id="26" name="Image 7" descr="assets/audit_cockpit_live_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3246120"/>
            <a:ext cx="3566160" cy="200253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pic>
      <p:sp>
        <p:nvSpPr>
          <p:cNvPr id="27" name="Text 17"/>
          <p:cNvSpPr/>
          <p:nvPr/>
        </p:nvSpPr>
        <p:spPr>
          <a:xfrm>
            <a:off x="8211312" y="5303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566928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weather data, human-in-the-loop decisions, and a complete audit trail.</a:t>
            </a:r>
            <a:endParaRPr lang="en-US" sz="1150" dirty="0"/>
          </a:p>
        </p:txBody>
      </p:sp>
      <p:sp>
        <p:nvSpPr>
          <p:cNvPr id="801" name="Footer Text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802" name="Page Number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financ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IMPLICATIONS &amp; ROI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expensive emergency spend into cheaper planned spend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195681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2322576"/>
            <a:ext cx="5623560" cy="658368"/>
          </a:xfrm>
          <a:prstGeom prst="roundRect">
            <a:avLst>
              <a:gd name="adj" fmla="val 6944"/>
            </a:avLst>
          </a:prstGeom>
          <a:solidFill>
            <a:srgbClr val="F3F6FA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32257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saving, predictive vs reactive ¹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81728" y="2487168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6B3AD"/>
          </a:solidFill>
          <a:ln/>
        </p:spPr>
      </p:sp>
      <p:sp>
        <p:nvSpPr>
          <p:cNvPr id="10" name="Text 7"/>
          <p:cNvSpPr/>
          <p:nvPr/>
        </p:nvSpPr>
        <p:spPr>
          <a:xfrm>
            <a:off x="4681728" y="2487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054096"/>
            <a:ext cx="5623560" cy="658368"/>
          </a:xfrm>
          <a:prstGeom prst="roundRect">
            <a:avLst>
              <a:gd name="adj" fmla="val 6944"/>
            </a:avLst>
          </a:prstGeom>
          <a:solidFill>
            <a:srgbClr val="E9EFF6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305409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restoration cost spent on crew labour ²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81728" y="3218688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6B3AD"/>
          </a:solidFill>
          <a:ln/>
        </p:spPr>
      </p:sp>
      <p:sp>
        <p:nvSpPr>
          <p:cNvPr id="14" name="Text 11"/>
          <p:cNvSpPr/>
          <p:nvPr/>
        </p:nvSpPr>
        <p:spPr>
          <a:xfrm>
            <a:off x="4681728" y="32186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785616"/>
            <a:ext cx="5623560" cy="658368"/>
          </a:xfrm>
          <a:prstGeom prst="roundRect">
            <a:avLst>
              <a:gd name="adj" fmla="val 6944"/>
            </a:avLst>
          </a:prstGeom>
          <a:solidFill>
            <a:srgbClr val="F3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" y="378561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per $1 invested in hazard mitigation ³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81728" y="3950208"/>
            <a:ext cx="1280160" cy="402336"/>
          </a:xfrm>
          <a:prstGeom prst="roundRect">
            <a:avLst>
              <a:gd name="adj" fmla="val 50000"/>
            </a:avLst>
          </a:prstGeom>
          <a:solidFill>
            <a:srgbClr val="16B3AD"/>
          </a:solidFill>
          <a:ln/>
        </p:spPr>
      </p:sp>
      <p:sp>
        <p:nvSpPr>
          <p:cNvPr id="18" name="Text 15"/>
          <p:cNvSpPr/>
          <p:nvPr/>
        </p:nvSpPr>
        <p:spPr>
          <a:xfrm>
            <a:off x="4681728" y="395020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4517136"/>
            <a:ext cx="5623560" cy="658368"/>
          </a:xfrm>
          <a:prstGeom prst="roundRect">
            <a:avLst>
              <a:gd name="adj" fmla="val 6944"/>
            </a:avLst>
          </a:prstGeom>
          <a:solidFill>
            <a:srgbClr val="E9EFF6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517136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economy-wide cost of weather outages / year ⁴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81888" y="4681728"/>
            <a:ext cx="1680000" cy="402336"/>
          </a:xfrm>
          <a:prstGeom prst="roundRect">
            <a:avLst>
              <a:gd name="adj" fmla="val 50000"/>
            </a:avLst>
          </a:prstGeom>
          <a:solidFill>
            <a:srgbClr val="16B3AD"/>
          </a:solidFill>
          <a:ln/>
        </p:spPr>
      </p:sp>
      <p:sp>
        <p:nvSpPr>
          <p:cNvPr id="22" name="Text 19"/>
          <p:cNvSpPr/>
          <p:nvPr/>
        </p:nvSpPr>
        <p:spPr>
          <a:xfrm>
            <a:off x="4281888" y="4681728"/>
            <a:ext cx="1680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$18–33 billion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1956816"/>
            <a:ext cx="5184648" cy="205740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20840" y="2121408"/>
            <a:ext cx="4636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PAYBACK LOGIC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720840" y="2432304"/>
            <a:ext cx="46360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saves 30–40% against reactive work (US DOE). One Florida utility filed ~$1.1B to recover the 2024 hurricane season — with ~70% of restoration cost in crew labour, the line this platform optimises. Shifting 10–15% of reactive spend to planned work offsets implementation within one season.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46520" y="4169664"/>
            <a:ext cx="5184648" cy="1600200"/>
          </a:xfrm>
          <a:prstGeom prst="roundRect">
            <a:avLst>
              <a:gd name="adj" fmla="val 5143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0840" y="4315968"/>
            <a:ext cx="4636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trust, not just usage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20840" y="4663440"/>
            <a:ext cx="46360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how often operators override the AI: enough to show the platform earns trust, not so little that it is followed blindly.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" y="60167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8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layer delivers value before any AI runs, by resolving which system to believe.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01" name="Source Footnotes"/>
          <p:cNvSpPr/>
          <p:nvPr/>
        </p:nvSpPr>
        <p:spPr>
          <a:xfrm>
            <a:off x="566928" y="5350000"/>
            <a:ext cx="562356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US DOE FEMP, O&amp;M Best Practices Guide (Rel. 3.0) — % of maintenance cost, vs a reactive baseline.   ² UCS analysis of an FPL hurricane filing: ~$930M of ~$1.3B restoration cost.</a:t>
            </a:r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 NIBS, Natural Hazard Mitigation Saves, 2019 (FEMA-funded).   ⁴ White House / US DOE, Economic Benefits of Increasing Electric Grid Resilience to Weather Outages, 2013 — 2003–12 average, inflation-adjusted.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roadm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by month six. Each phase funds confidence in the next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19659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240280"/>
            <a:ext cx="457200" cy="457200"/>
          </a:xfrm>
          <a:prstGeom prst="ellipse">
            <a:avLst/>
          </a:prstGeom>
          <a:solidFill>
            <a:srgbClr val="16B3AD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35608" y="22402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435608" y="24780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 MVP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77824" y="3191256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SGW's real asset, maintenance and telemetry data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One-region pilot across all four hazards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gate: warning lead time, override rate in band, reactive work shifted to planned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97096" y="3337560"/>
            <a:ext cx="182880" cy="219456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98264" y="19659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72584" y="2240280"/>
            <a:ext cx="457200" cy="457200"/>
          </a:xfrm>
          <a:prstGeom prst="ellipse">
            <a:avLst/>
          </a:prstGeom>
          <a:solidFill>
            <a:srgbClr val="E0971A"/>
          </a:solidFill>
          <a:ln/>
        </p:spPr>
      </p:sp>
      <p:sp>
        <p:nvSpPr>
          <p:cNvPr id="15" name="Text 12"/>
          <p:cNvSpPr/>
          <p:nvPr/>
        </p:nvSpPr>
        <p:spPr>
          <a:xfrm>
            <a:off x="467258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66944" y="22402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9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 TO 12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66944" y="24780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During-event triage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709160" y="3191256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anomaly response and crew dispatch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Operator-approved work-order creation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28432" y="3337560"/>
            <a:ext cx="182880" cy="219456"/>
          </a:xfrm>
          <a:prstGeom prst="rightArrow">
            <a:avLst/>
          </a:prstGeom>
          <a:solidFill>
            <a:srgbClr val="8A94A6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0" y="19659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03920" y="2240280"/>
            <a:ext cx="457200" cy="457200"/>
          </a:xfrm>
          <a:prstGeom prst="ellipse">
            <a:avLst/>
          </a:prstGeom>
          <a:solidFill>
            <a:srgbClr val="D14646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098280" y="22402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14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 TO 18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098280" y="24780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&amp; full footprint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540496" y="3191256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assessment from aerial imagery</a:t>
            </a:r>
            <a:endParaRPr lang="en-US" sz="1200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across the full service area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66928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E1A2E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" y="519379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PROVIDES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697480" y="5193792"/>
            <a:ext cx="8732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a named steward, integration on the GIS and maintenance side, and change management for operators.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gov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an audit, not just a demo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5394960" cy="1536192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231136"/>
            <a:ext cx="548640" cy="548640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8" name="Image 1" descr="assets/icon_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379269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9616" y="21214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99616" y="2505456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shutdown and work orders are each confirmed by the right named role. The AI cannot accept its own recommendation.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36208" y="1920240"/>
            <a:ext cx="5394960" cy="1536192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73952" y="2231136"/>
            <a:ext cx="548640" cy="548640"/>
          </a:xfrm>
          <a:prstGeom prst="ellipse">
            <a:avLst/>
          </a:prstGeom>
          <a:solidFill>
            <a:srgbClr val="0E8F8B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3" name="Image 2" descr="assets/icon_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85" y="237926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68896" y="21214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168896" y="2505456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and decision is written to an append-only, exportable record.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694176"/>
            <a:ext cx="5394960" cy="1536192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04672" y="4005072"/>
            <a:ext cx="548640" cy="548640"/>
          </a:xfrm>
          <a:prstGeom prst="ellipse">
            <a:avLst/>
          </a:prstGeom>
          <a:solidFill>
            <a:srgbClr val="E0971A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8" name="Image 3" descr="assets/icon_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153205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9616" y="38953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99616" y="4279392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drift and fairness are monitored, with thresholds that trigger review.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36208" y="3694176"/>
            <a:ext cx="5394960" cy="1536192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73952" y="4005072"/>
            <a:ext cx="548640" cy="548640"/>
          </a:xfrm>
          <a:prstGeom prst="ellipse">
            <a:avLst/>
          </a:prstGeom>
          <a:solidFill>
            <a:srgbClr val="0E1A2E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23" name="Image 4" descr="assets/icon_refres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085" y="4153205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68896" y="389534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reversible learning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168896" y="4279392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learns from operator decisions in a capped, visible and reversible way.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66928" y="5394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0E1A2E"/>
          </a:solidFill>
          <a:ln/>
        </p:spPr>
      </p:sp>
      <p:sp>
        <p:nvSpPr>
          <p:cNvPr id="27" name="Text 20"/>
          <p:cNvSpPr/>
          <p:nvPr/>
        </p:nvSpPr>
        <p:spPr>
          <a:xfrm>
            <a:off x="841248" y="539496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NERC CIP, state PUC reporting, SOC 2 and the NIST AI Risk Management Framework. When the AI is wrong, any operator can override in one click.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sca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More regions, more domains, more workflows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7824" y="2322576"/>
            <a:ext cx="658368" cy="65836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8" name="Image 1" descr="assets/icon_clou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83" y="2500335"/>
            <a:ext cx="302849" cy="3028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314553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regions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77824" y="3547872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per region. Adapters isolate the weather provider, so other countries are integration work, not a rebuild.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98264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2322576"/>
            <a:ext cx="658368" cy="658368"/>
          </a:xfrm>
          <a:prstGeom prst="ellipse">
            <a:avLst/>
          </a:prstGeom>
          <a:solidFill>
            <a:srgbClr val="0E8F8B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3" name="Image 2" descr="assets/icon_sca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919" y="2500335"/>
            <a:ext cx="302849" cy="3028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314553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domains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709160" y="3547872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moves from grid to water, wastewater and transport. Only the data changes.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0" y="20116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40496" y="2322576"/>
            <a:ext cx="658368" cy="658368"/>
          </a:xfrm>
          <a:prstGeom prst="ellipse">
            <a:avLst/>
          </a:prstGeom>
          <a:solidFill>
            <a:srgbClr val="E0971A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18" name="Image 3" descr="assets/icon_refres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255" y="2500335"/>
            <a:ext cx="302849" cy="3028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0496" y="314553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workflows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540496" y="3547872"/>
            <a:ext cx="29900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covers pre-event, during-event, post-event and routine maintenance.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66928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E1A2E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14400" y="523036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23" name="Image 4" descr="assets/icon_refresh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71" y="5383439"/>
            <a:ext cx="260787" cy="2607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1389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maintenance runs all year.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works between storms, not only during them, so value continues outside storm season.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566928" cy="566928"/>
          </a:xfrm>
          <a:prstGeom prst="ellipse">
            <a:avLst/>
          </a:prstGeom>
          <a:solidFill>
            <a:srgbClr val="16B3AD"/>
          </a:solidFill>
          <a:ln/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pic>
        <p:nvPicPr>
          <p:cNvPr id="3" name="Image 0" descr="assets/icon_ris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99" y="628559"/>
            <a:ext cx="260787" cy="260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98448" y="71323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3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what we've done about it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76272"/>
            <a:ext cx="384048" cy="384048"/>
          </a:xfrm>
          <a:prstGeom prst="ellipse">
            <a:avLst/>
          </a:prstGeom>
          <a:solidFill>
            <a:srgbClr val="D14646"/>
          </a:solidFill>
          <a:ln/>
        </p:spPr>
      </p:sp>
      <p:pic>
        <p:nvPicPr>
          <p:cNvPr id="8" name="Image 1" descr="assets/icon_ris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7685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213969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below assumption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41248" y="2706624"/>
            <a:ext cx="484632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1248" y="28163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data-foundation workstream. The platform degrades gracefully with wider uncertainty and more human review. It never fails silently.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6208" y="19202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2176272"/>
            <a:ext cx="384048" cy="384048"/>
          </a:xfrm>
          <a:prstGeom prst="ellipse">
            <a:avLst/>
          </a:prstGeom>
          <a:solidFill>
            <a:srgbClr val="D14646"/>
          </a:solidFill>
          <a:ln/>
        </p:spPr>
      </p:sp>
      <p:pic>
        <p:nvPicPr>
          <p:cNvPr id="14" name="Image 2" descr="assets/icon_ris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7685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22592" y="213969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rare-event history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10528" y="2706624"/>
            <a:ext cx="484632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0528" y="28163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a real hurricane replay. Forecasts carry uncertainty, and a person stays in the loop on every decision.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405079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306824"/>
            <a:ext cx="384048" cy="384048"/>
          </a:xfrm>
          <a:prstGeom prst="ellipse">
            <a:avLst/>
          </a:prstGeom>
          <a:solidFill>
            <a:srgbClr val="D14646"/>
          </a:solidFill>
          <a:ln/>
        </p:spPr>
      </p:sp>
      <p:pic>
        <p:nvPicPr>
          <p:cNvPr id="20" name="Image 3" descr="assets/icon_ris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407408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53312" y="42702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adoption and trust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41248" y="4837176"/>
            <a:ext cx="484632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41248" y="494690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advisory posture with visible confidence and evidence. Override rates are tracked to confirm the platform earns trust.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36208" y="405079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6DEEA"/>
            </a:solidFill>
            <a:prstDash val="solid"/>
          </a:ln>
          <a:effectLst>
            <a:outerShdw sx="100000" sy="100000" kx="0" ky="0" algn="bl" rotWithShape="0" blurRad="88900" dist="25400" dir="5400000">
              <a:srgbClr val="6B7A9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0" y="4306824"/>
            <a:ext cx="384048" cy="384048"/>
          </a:xfrm>
          <a:prstGeom prst="ellipse">
            <a:avLst/>
          </a:prstGeom>
          <a:solidFill>
            <a:srgbClr val="D14646"/>
          </a:solidFill>
          <a:ln/>
        </p:spPr>
      </p:sp>
      <p:pic>
        <p:nvPicPr>
          <p:cNvPr id="26" name="Image 4" descr="assets/icon_ris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40740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22592" y="42702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over time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510528" y="4837176"/>
            <a:ext cx="4846320" cy="0"/>
          </a:xfrm>
          <a:prstGeom prst="line">
            <a:avLst/>
          </a:prstGeom>
          <a:noFill/>
          <a:ln w="12700">
            <a:solidFill>
              <a:srgbClr val="D6DEE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510528" y="494690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Mitigation.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calibration, drift and fairness, with thresholds that trigger review.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 Multi-Hazard Readiness &amp; Response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6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mobilisation to prove it on SGW's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B3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Copilot, never autopilot.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779776"/>
            <a:ext cx="548640" cy="548640"/>
          </a:xfrm>
          <a:prstGeom prst="ellipse">
            <a:avLst/>
          </a:prstGeom>
          <a:solidFill>
            <a:srgbClr val="16B3AD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779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0976" y="3511296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a steward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50976" y="4133088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validate the approach on your real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71416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2779776"/>
            <a:ext cx="548640" cy="548640"/>
          </a:xfrm>
          <a:prstGeom prst="ellipse">
            <a:avLst/>
          </a:prstGeom>
          <a:solidFill>
            <a:srgbClr val="16B3AD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779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82312" y="3511296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session with ops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82312" y="4133088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the first workflow and region.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02752" y="2468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8233B"/>
          </a:solidFill>
          <a:ln w="12700">
            <a:solidFill>
              <a:srgbClr val="22304F"/>
            </a:solidFill>
            <a:prstDash val="solid"/>
          </a:ln>
          <a:effectLst>
            <a:outerShdw sx="100000" sy="100000" kx="0" ky="0" algn="bl" rotWithShape="0" blurRad="114300" dist="38100" dir="5400000">
              <a:srgbClr val="0B122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13648" y="2779776"/>
            <a:ext cx="548640" cy="548640"/>
          </a:xfrm>
          <a:prstGeom prst="ellipse">
            <a:avLst/>
          </a:prstGeom>
          <a:solidFill>
            <a:srgbClr val="16B3AD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2779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13648" y="3511296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13648" y="4133088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lead change management with your operators.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08792" cy="822960"/>
          </a:xfrm>
          <a:prstGeom prst="roundRect">
            <a:avLst>
              <a:gd name="adj" fmla="val 11111"/>
            </a:avLst>
          </a:prstGeom>
          <a:solidFill>
            <a:srgbClr val="16B3A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requested: approve a 6-month pre-event MVP mobilisation.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SGW senior leadership  ·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SGW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SGW Multi-Hazard Readiness &amp; Response — Executive Briefing</dc:title>
  <dc:subject>PptxGenJS Presentation</dc:subject>
  <dc:creator>SGW Multi-Hazard Readiness &amp; Response</dc:creator>
  <cp:lastModifiedBy>SGW Multi-Hazard Readiness &amp; Response</cp:lastModifiedBy>
  <cp:revision>1</cp:revision>
  <dcterms:created xsi:type="dcterms:W3CDTF">2026-07-20T06:52:50Z</dcterms:created>
  <dcterms:modified xsi:type="dcterms:W3CDTF">2026-07-20T06:52:50Z</dcterms:modified>
</cp:coreProperties>
</file>